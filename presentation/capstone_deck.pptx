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228600" cy="22860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A77D"/>
                </a:solidFill>
                <a:latin typeface="Calibri"/>
              </a:rPr>
              <a:t>CAPSTONE PROJECT — DATA SCIENCE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ML-Based Cross-Sectional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Swing Trading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Predicting forward returns with walk-forward machine learning,</a:t>
            </a:r>
          </a:p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evaluated against honest benchmarks.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Jordan Donaldson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Institute of Data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Project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PDT rule removal &amp; retail algo trading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Business problem and data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EDA findings and pipeline architecture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Features, models, and backtest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Conclusions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What worked, honest caveats,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Calibri"/>
              </a:rPr>
              <a:t>Jordan Donaldson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A77D"/>
                </a:solidFill>
                <a:latin typeface="Calibri"/>
              </a:rPr>
              <a:t>Aspiring ML / AI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Background in Neuroscience — drawn to systems that learn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Transitioning into ML/AI engineering through the IoD program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Particularly interested in real-time decision systems and AI agents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This capstone combines quantitative methods with applied ML — the kind of work I want to do next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Outside of work: streaming, building, learning in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Why this project,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Regulatory change opens algorithmic trading to a new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6A77D"/>
                </a:solidFill>
                <a:latin typeface="Calibri"/>
              </a:rPr>
              <a:t>JUNE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FINRA removes the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Pattern Day Trader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$25k minimum equity</a:t>
            </a:r>
          </a:p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requirement eliminated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What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7744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Small-account algorithmic strategies become viable for the first time at scale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Retail traders gain access to mechanics previously reserved for $25k+ accounts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Demand emerges for accessible, transparent, ML-augmented trading tools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Question: can retail-grade ML produce defensible alpha with cheap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Define — 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Can a machine-learning system using widely-available retail data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produce a swing-trading strategy that delivers risk-adjusted alpha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over a passive benchmark, after realistic transaction costs?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Validates whether ML adds real value vs. buy-and-hold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Honest framing — most retail strategies underperform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Educational artifact, not a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Out-of-sample evaluation via walk-forward CV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Realistic transaction costs included (10bps round-trip)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Compared to apples-to-apples benchmark, not just SPY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Reproducible pipeline — single CLI command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Honest discussion of failure modes and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Define —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065A8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Tickers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554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065A82"/>
                </a:solidFill>
                <a:latin typeface="Calibri"/>
              </a:rPr>
              <a:t>8 yrs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Daily OHLCV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065A82"/>
                </a:solidFill>
                <a:latin typeface="Calibri"/>
              </a:rPr>
              <a:t>22,110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Raw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554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065A82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Universe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AAPL, AMZN, JNJ, JPM, MCD, META, NVDA, PFE, TSLA, UNH  +  SPY (benchmark)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677"/>
                </a:solidFill>
                <a:latin typeface="Calibri"/>
              </a:rPr>
              <a:t>Diverse sectors: tech, consumer, healthcare, financials. All names traded continuously through the period — no survivorship bias.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Source &amp;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Yahoo Finance via yfinance.  2018-01-01 to 2025-12-30.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Cached locally as parquet for fast iteration.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Design — 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Three findings shaped every downstream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2103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Lag-1 mean reversion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Negative autocorrelation across most tickers (SPY -0.14, MCD -0.12). Prior-day return as a feature.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45920"/>
            <a:ext cx="3657600" cy="2103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Tech cluster correlations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AAPL/SPY pair = 0.77 highest. TSLA/JNJ pair = 0.08 lowest. Diversification opportunities exist within the universe.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657600" cy="2103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828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Cross-sectional &gt; absolute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774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Forward returns are noisy in absolute terms. Ranking within the universe is more learnable than predicting magnitude.</a:t>
            </a:r>
          </a:p>
        </p:txBody>
      </p:sp>
      <p:pic>
        <p:nvPicPr>
          <p:cNvPr id="14" name="Picture 13" descr="04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638" y="3931920"/>
            <a:ext cx="3074243" cy="2651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6492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6677"/>
                </a:solidFill>
                <a:latin typeface="Calibri"/>
              </a:rPr>
              <a:t>Return correlation matrix (universe)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Design —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Single CLI command runs the full reproducible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37744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2926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Yahoo Finance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OHLCV + cache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13151" y="2971800"/>
            <a:ext cx="118872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1167" y="237744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167" y="2926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 families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(returns, vol,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technicals, market)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1991" y="2971800"/>
            <a:ext cx="118872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90007" y="237744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0007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007" y="2926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Walk-forward CV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 models compared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0831" y="2971800"/>
            <a:ext cx="118872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38847" y="237744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8847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Backtest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8847" y="2926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Non-overlapping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top-N w/ costs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59671" y="2971800"/>
            <a:ext cx="118872" cy="27432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7687" y="237744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7687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7687" y="2926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vs. SPY +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equal-weight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56677"/>
                </a:solidFill>
                <a:latin typeface="Calibri"/>
              </a:rPr>
              <a:t>python -m src.pipeline --all      runs the entire flow end-to-end. Each step is independently testable.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Key design choices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Walk-forward validation (not random k-fold) — avoids future-data leakage on time series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Cross-sectional ranking target — more learnable than absolute return prediction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Three model classes compared — linear, tree-based ensemble, gradient-boosted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Deliver —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Four families, each motivated by EDA or financial theory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Multi-horizon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1d, 5d, 20d, 60d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231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Captures both short-term mean reversion and longer-horizon momentum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600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Volatility regime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20d, 60d rolling std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231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TSLA/NVDA distributions visibly differ from JNJ/PFE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86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Technical 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97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RSI-14, Bollinger %B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091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Standard quant signals — cheap to compute, well-studied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86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Market-relative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97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Volume ratio, excess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70916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Isolates idiosyncratic moves from systematic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556677"/>
                </a:solidFill>
                <a:latin typeface="Calibri"/>
              </a:rPr>
              <a:t>Target: binary — 1 if forward-5d return ranks in top 20% of universe on that 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Deliver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Three classifiers, walk-forward CV, AUC as primary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73736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9525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207" y="2240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2743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Linear baseline</a:t>
            </a:r>
          </a:p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with StandardScaler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3566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0.595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4023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4251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0.609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937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0.394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173736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1920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A77D"/>
                </a:solidFill>
                <a:latin typeface="Calibri"/>
              </a:rPr>
              <a:t>★ BEST BY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240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2743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Non-linear ensemble</a:t>
            </a:r>
          </a:p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selected as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3566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A77D"/>
                </a:solidFill>
                <a:latin typeface="Calibri"/>
              </a:rPr>
              <a:t>0.595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4023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4251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A77D"/>
                </a:solidFill>
                <a:latin typeface="Calibri"/>
              </a:rPr>
              <a:t>0.583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807" y="4937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A77D"/>
                </a:solidFill>
                <a:latin typeface="Calibri"/>
              </a:rPr>
              <a:t>0.396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6087" y="1737360"/>
            <a:ext cx="3474720" cy="393192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9525"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2240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LightGBM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407" y="2743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Gradient-boosted</a:t>
            </a:r>
          </a:p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407" y="3566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4023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407" y="4251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407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407" y="4937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65A82"/>
                </a:solidFill>
                <a:latin typeface="Calibri"/>
              </a:rPr>
              <a:t>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0407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556677"/>
                </a:solidFill>
                <a:latin typeface="Calibri"/>
              </a:rPr>
              <a:t>Linear and non-linear models perform similarly — the predictive signal lives in feature engineering, not in complex interactions.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Deliver — backtest equity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6.4 years out-of-sample, $10k initial, 10bps round-trip costs</a:t>
            </a:r>
          </a:p>
        </p:txBody>
      </p:sp>
      <p:pic>
        <p:nvPicPr>
          <p:cNvPr id="5" name="Picture 4" descr="06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5246"/>
            <a:ext cx="7772400" cy="38447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64592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A77D"/>
                </a:solidFill>
                <a:latin typeface="Calibri"/>
              </a:rPr>
              <a:t>ML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574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$66,119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97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34.1% annualized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29184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429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C7293"/>
                </a:solidFill>
                <a:latin typeface="Calibri"/>
              </a:rPr>
              <a:t>EQUAL-WEIGHT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03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065A82"/>
                </a:solidFill>
                <a:latin typeface="Calibri"/>
              </a:rPr>
              <a:t>$51,272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51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28.9% annualized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75488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892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HONEST ALPHA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1663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+5.19pp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+-0.27 Sharpe vs. equal-weight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Deliver — performance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Strategy vs. SPY vs. equal-weight universe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737360"/>
            <a:ext cx="256032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256032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Equal-Weight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737360"/>
            <a:ext cx="2560320" cy="59436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10881360" cy="5943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Total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31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A77D"/>
                </a:solidFill>
                <a:latin typeface="Calibri"/>
              </a:rPr>
              <a:t>+561.19%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7293"/>
                </a:solidFill>
                <a:latin typeface="Calibri"/>
              </a:rPr>
              <a:t>+412.72%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331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56677"/>
                </a:solidFill>
                <a:latin typeface="Calibri"/>
              </a:rPr>
              <a:t>+150.87%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Annualized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260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A77D"/>
                </a:solidFill>
                <a:latin typeface="Calibri"/>
              </a:rPr>
              <a:t>+34.09%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7293"/>
                </a:solidFill>
                <a:latin typeface="Calibri"/>
              </a:rPr>
              <a:t>+28.90%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9260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56677"/>
                </a:solidFill>
                <a:latin typeface="Calibri"/>
              </a:rPr>
              <a:t>+15.35%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20440"/>
            <a:ext cx="10881360" cy="5943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204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Sharpe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204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065A82"/>
                </a:solidFill>
                <a:latin typeface="Calibri"/>
              </a:rPr>
              <a:t>0.95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A77D"/>
                </a:solidFill>
                <a:latin typeface="Calibri"/>
              </a:rPr>
              <a:t>1.22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5204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56677"/>
                </a:solidFill>
                <a:latin typeface="Calibri"/>
              </a:rPr>
              <a:t>0.81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Max 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14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065A82"/>
                </a:solidFill>
                <a:latin typeface="Calibri"/>
              </a:rPr>
              <a:t>-54.08%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14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A77D"/>
                </a:solidFill>
                <a:latin typeface="Calibri"/>
              </a:rPr>
              <a:t>-32.10%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114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56677"/>
                </a:solidFill>
                <a:latin typeface="Calibri"/>
              </a:rPr>
              <a:t>-33.72%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09160"/>
            <a:ext cx="10881360" cy="5943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70916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Hit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7091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065A82"/>
                </a:solidFill>
                <a:latin typeface="Calibri"/>
              </a:rPr>
              <a:t>54.8%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091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6A77D"/>
                </a:solidFill>
                <a:latin typeface="Calibri"/>
              </a:rPr>
              <a:t>56.6%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7091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56677"/>
                </a:solidFill>
                <a:latin typeface="Calibri"/>
              </a:rPr>
              <a:t>55.5%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56677"/>
                </a:solidFill>
                <a:latin typeface="Calibri"/>
              </a:rPr>
              <a:t>Green = best in row.  6.4-year out-of-sample window, 10bps round-trip costs, $10k initial capital.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Strategy delivers higher absolute return AND higher risk-adjusted return than both benchmarks.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The cost: deeper max drawdown, reflecting concentration in only 2 names at any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Deliver — risk and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Concentration is the explicit cost of conviction</a:t>
            </a:r>
          </a:p>
        </p:txBody>
      </p:sp>
      <p:pic>
        <p:nvPicPr>
          <p:cNvPr id="5" name="Picture 4" descr="07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3999"/>
            <a:ext cx="6858000" cy="2238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What the chart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031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Max drawdown: -54.1%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Largest losses cluster in 2023 — concentrated bets in falling tech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Recovery to new highs by 2024 — strategy is resilient but volatile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63946"/>
                </a:solidFill>
                <a:latin typeface="Calibri"/>
              </a:rPr>
              <a:t>Honest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48056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Top-2 of 11 = high concentration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Drawdowns are a feature, not a bug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Real money sizing requires risk parity or volatility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3946"/>
                </a:solidFill>
                <a:latin typeface="Calibri"/>
              </a:rPr>
              <a:t>-54.1%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Strategy 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5778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C7293"/>
                </a:solidFill>
                <a:latin typeface="Calibri"/>
              </a:rPr>
              <a:t>-32.1%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6446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Equal-Weight 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556677"/>
                </a:solidFill>
                <a:latin typeface="Calibri"/>
              </a:rPr>
              <a:t>-33.7%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SPY 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End-to-end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677"/>
                </a:solidFill>
                <a:latin typeface="Calibri"/>
              </a:rPr>
              <a:t>What I shipped — reproducible, documented, deployable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Pipeline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data_loader.py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Cached OHLCV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features.py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 feature families, ~15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models.py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08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Walk-forward training, 3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backtest.py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611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Non-overlapping trades + 2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pipeline.py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Single-CLI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0312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Reproducible pipeline (single CLI command)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EDA notebook with 4 published plots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3 model comparison + best-by-AUC selection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Backtest with 2 honest benchmarks + costs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7 result visualizations + JSON metrics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Roadmap doc for next-phase enhancements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Comprehensive README on public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C7293"/>
                </a:solidFill>
                <a:latin typeface="Calibri"/>
              </a:rPr>
              <a:t>Public repo: github.com/Jordan4184/swing-trading-capstone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Summary, conclusions,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287" y="1554480"/>
            <a:ext cx="3657600" cy="6400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287" y="1737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A77D"/>
                </a:solidFill>
                <a:latin typeface="Calibri"/>
              </a:rPr>
              <a:t>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287" y="22860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+5.19pp annualized alpha vs. honest benchmark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Walk-forward validation produced reliable estimates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Volatility regime ranks as #1 feature — aligned with theory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Cross-sectional ranking learned despite low signal-to-noise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1554480"/>
            <a:ext cx="365760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047" y="1737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63946"/>
                </a:solidFill>
                <a:latin typeface="Calibri"/>
              </a:rPr>
              <a:t>Honest caveats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47" y="22860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Yahoo Finance is an unofficial data source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11-ticker universe is small, may not generalize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2019-2025 was an exceptional bull market for tech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Concentration drawdown of -54% is the cost of conviction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1807" y="1554480"/>
            <a:ext cx="365760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807" y="1737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1807" y="22860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Crowd Consensus Meter — sentiment as filter layer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Real-time deployment via Polygon + Alpaca paper trading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AI agent for news/filing summarization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Universe expansion from 11 to ~500 names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228600" cy="22860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A77D"/>
                </a:solidFill>
                <a:latin typeface="Calibri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Calibri"/>
              </a:rPr>
              <a:t>Happy to dig into any part of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Jordan Donaldson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github.com/Jordan4184/swing-trading-capstone   |   itsjordandonaldson@gmail.com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