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Future work — system mockup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09CAA"/>
                </a:solidFill>
                <a:latin typeface="Calibri"/>
              </a:rPr>
              <a:t>Concept: an integrated trading + strategy monitoring dashboard built on top of this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solidFill>
            <a:srgbClr val="1B2A3F"/>
          </a:solidFill>
          <a:ln w="3175">
            <a:solidFill>
              <a:srgbClr val="909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6128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6A77D"/>
                </a:solidFill>
                <a:latin typeface="Calibri"/>
              </a:rPr>
              <a:t>◆  capstone-trader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16128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481328"/>
            <a:ext cx="914400" cy="254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16128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CAA"/>
                </a:solidFill>
                <a:latin typeface="Calibri"/>
              </a:rPr>
              <a:t>Watchlist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16128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CAA"/>
                </a:solidFill>
                <a:latin typeface="Calibri"/>
              </a:rPr>
              <a:t>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16128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CAA"/>
                </a:solidFill>
                <a:latin typeface="Calibri"/>
              </a:rPr>
              <a:t>Positions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16128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CAA"/>
                </a:solidFill>
                <a:latin typeface="Calibri"/>
              </a:rPr>
              <a:t>News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16128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09CAA"/>
                </a:solidFill>
                <a:latin typeface="Calibri"/>
              </a:rPr>
              <a:t>Backtest</a:t>
            </a:r>
          </a:p>
        </p:txBody>
      </p:sp>
      <p:sp>
        <p:nvSpPr>
          <p:cNvPr id="14" name="Oval 13"/>
          <p:cNvSpPr/>
          <p:nvPr/>
        </p:nvSpPr>
        <p:spPr>
          <a:xfrm>
            <a:off x="10607040" y="1261872"/>
            <a:ext cx="109728" cy="109728"/>
          </a:xfrm>
          <a:prstGeom prst="ellipse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71632" y="11612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09CAA"/>
                </a:solidFill>
                <a:latin typeface="Calibri"/>
              </a:rPr>
              <a:t>MARKET OPEN  |  09:42:13 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1691640"/>
            <a:ext cx="2743200" cy="1417320"/>
          </a:xfrm>
          <a:prstGeom prst="roundRect">
            <a:avLst>
              <a:gd name="adj" fmla="val 4000"/>
            </a:avLst>
          </a:prstGeom>
          <a:solidFill>
            <a:srgbClr val="1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7830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09CAA"/>
                </a:solidFill>
                <a:latin typeface="Calibri"/>
              </a:rPr>
              <a:t>ACCOUNT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07568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$66,119.42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58775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A77D"/>
                </a:solidFill>
                <a:latin typeface="Calibri"/>
              </a:rPr>
              <a:t>▲ +$847.31 (+1.30%) today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002326"/>
            <a:ext cx="164592" cy="254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" y="3002326"/>
            <a:ext cx="164592" cy="254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2104" y="2981544"/>
            <a:ext cx="164592" cy="31173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6696" y="2981544"/>
            <a:ext cx="164592" cy="254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61288" y="2960762"/>
            <a:ext cx="164592" cy="31173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25880" y="2960762"/>
            <a:ext cx="164592" cy="254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90472" y="2939980"/>
            <a:ext cx="164592" cy="31173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55064" y="2939980"/>
            <a:ext cx="164592" cy="254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19656" y="2919198"/>
            <a:ext cx="164592" cy="31173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984248" y="2919198"/>
            <a:ext cx="164592" cy="254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48840" y="2877635"/>
            <a:ext cx="164592" cy="51954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13432" y="2877635"/>
            <a:ext cx="164592" cy="254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78024" y="2836071"/>
            <a:ext cx="164592" cy="62346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42616" y="2836071"/>
            <a:ext cx="164592" cy="254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07208" y="2794508"/>
            <a:ext cx="164592" cy="51954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5760" y="3246120"/>
            <a:ext cx="2743200" cy="3520440"/>
          </a:xfrm>
          <a:prstGeom prst="roundRect">
            <a:avLst>
              <a:gd name="adj" fmla="val 4000"/>
            </a:avLst>
          </a:prstGeom>
          <a:solidFill>
            <a:srgbClr val="1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3375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09CAA"/>
                </a:solidFill>
                <a:latin typeface="Calibri"/>
              </a:rPr>
              <a:t>WATCHLIST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36576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NVDA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36576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09CAA"/>
                </a:solidFill>
                <a:latin typeface="Calibri"/>
              </a:rPr>
              <a:t>$874.21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48840" y="365760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06A77D"/>
                </a:solidFill>
                <a:latin typeface="Calibri"/>
              </a:rPr>
              <a:t>+2.41%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39502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META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3950208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09CAA"/>
                </a:solidFill>
                <a:latin typeface="Calibri"/>
              </a:rPr>
              <a:t>$521.08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48840" y="395020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06A77D"/>
                </a:solidFill>
                <a:latin typeface="Calibri"/>
              </a:rPr>
              <a:t>+1.12%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424281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TSLA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4242816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09CAA"/>
                </a:solidFill>
                <a:latin typeface="Calibri"/>
              </a:rPr>
              <a:t>$248.55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48840" y="424281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E63946"/>
                </a:solidFill>
                <a:latin typeface="Calibri"/>
              </a:rPr>
              <a:t>-0.87%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453542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AAPL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" y="4535424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09CAA"/>
                </a:solidFill>
                <a:latin typeface="Calibri"/>
              </a:rPr>
              <a:t>$189.34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48840" y="453542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06A77D"/>
                </a:solidFill>
                <a:latin typeface="Calibri"/>
              </a:rPr>
              <a:t>+0.45%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48280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AMZN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48280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09CAA"/>
                </a:solidFill>
                <a:latin typeface="Calibri"/>
              </a:rPr>
              <a:t>$182.91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48840" y="482803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06A77D"/>
                </a:solidFill>
                <a:latin typeface="Calibri"/>
              </a:rPr>
              <a:t>+1.78%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51206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MCD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" y="512064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09CAA"/>
                </a:solidFill>
                <a:latin typeface="Calibri"/>
              </a:rPr>
              <a:t>$291.42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48840" y="512064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06A77D"/>
                </a:solidFill>
                <a:latin typeface="Calibri"/>
              </a:rPr>
              <a:t>+0.22%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54132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JPM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5413248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09CAA"/>
                </a:solidFill>
                <a:latin typeface="Calibri"/>
              </a:rPr>
              <a:t>$201.18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48840" y="541324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E63946"/>
                </a:solidFill>
                <a:latin typeface="Calibri"/>
              </a:rPr>
              <a:t>-0.34%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570585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UNH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" y="5705856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09CAA"/>
                </a:solidFill>
                <a:latin typeface="Calibri"/>
              </a:rPr>
              <a:t>$528.90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48840" y="570585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06A77D"/>
                </a:solidFill>
                <a:latin typeface="Calibri"/>
              </a:rPr>
              <a:t>+0.91%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59984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PFE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" y="5998464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09CAA"/>
                </a:solidFill>
                <a:latin typeface="Calibri"/>
              </a:rPr>
              <a:t>$28.45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48840" y="599846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E63946"/>
                </a:solidFill>
                <a:latin typeface="Calibri"/>
              </a:rPr>
              <a:t>-1.23%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62910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JNJ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43000" y="62910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09CAA"/>
                </a:solidFill>
                <a:latin typeface="Calibri"/>
              </a:rPr>
              <a:t>$162.78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48840" y="629107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06A77D"/>
                </a:solidFill>
                <a:latin typeface="Calibri"/>
              </a:rPr>
              <a:t>+0.18%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246120" y="1691640"/>
            <a:ext cx="4937760" cy="3108960"/>
          </a:xfrm>
          <a:prstGeom prst="roundRect">
            <a:avLst>
              <a:gd name="adj" fmla="val 4000"/>
            </a:avLst>
          </a:prstGeom>
          <a:solidFill>
            <a:srgbClr val="1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83280" y="17830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09CAA"/>
                </a:solidFill>
                <a:latin typeface="Calibri"/>
              </a:rPr>
              <a:t>STRATEGY P&amp;L  |  YTD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83280" y="207568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6A77D"/>
                </a:solidFill>
                <a:latin typeface="Calibri"/>
              </a:rPr>
              <a:t>+34.1%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83280" y="24688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09CAA"/>
                </a:solidFill>
                <a:latin typeface="Calibri"/>
              </a:rPr>
              <a:t>annualized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00600" y="2075688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2.13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00600" y="246888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09CAA"/>
                </a:solidFill>
                <a:latin typeface="Calibri"/>
              </a:rPr>
              <a:t>Sharpe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43600" y="207568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6A77D"/>
                </a:solidFill>
                <a:latin typeface="Calibri"/>
              </a:rPr>
              <a:t>+5.19pp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43600" y="246888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09CAA"/>
                </a:solidFill>
                <a:latin typeface="Calibri"/>
              </a:rPr>
              <a:t>alpha vs eq-weight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383280" y="4321523"/>
            <a:ext cx="77724" cy="254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461004" y="4314843"/>
            <a:ext cx="77724" cy="254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538728" y="4302826"/>
            <a:ext cx="77724" cy="254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616452" y="4220340"/>
            <a:ext cx="77724" cy="82486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694176" y="4209733"/>
            <a:ext cx="77724" cy="254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771900" y="4209733"/>
            <a:ext cx="77724" cy="108079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849624" y="4267356"/>
            <a:ext cx="77724" cy="50456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927348" y="4267356"/>
            <a:ext cx="77724" cy="254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005072" y="4265996"/>
            <a:ext cx="77724" cy="254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082796" y="4234293"/>
            <a:ext cx="77724" cy="31703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160520" y="4192504"/>
            <a:ext cx="77724" cy="41789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238244" y="4070024"/>
            <a:ext cx="77724" cy="12248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315968" y="3991467"/>
            <a:ext cx="77724" cy="78557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393692" y="3960230"/>
            <a:ext cx="77724" cy="31237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471416" y="3960230"/>
            <a:ext cx="77724" cy="42311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549140" y="4002541"/>
            <a:ext cx="77724" cy="66256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626864" y="4025790"/>
            <a:ext cx="77724" cy="43007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704588" y="3890528"/>
            <a:ext cx="77724" cy="135262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782312" y="3865257"/>
            <a:ext cx="77724" cy="254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860036" y="3852808"/>
            <a:ext cx="77724" cy="254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937760" y="3785070"/>
            <a:ext cx="77724" cy="6773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015484" y="3785070"/>
            <a:ext cx="77724" cy="104283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093208" y="3889353"/>
            <a:ext cx="77724" cy="254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170932" y="3830599"/>
            <a:ext cx="77724" cy="6415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248656" y="3733260"/>
            <a:ext cx="77724" cy="97339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326380" y="3732448"/>
            <a:ext cx="77724" cy="254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404104" y="3678155"/>
            <a:ext cx="77724" cy="54293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481828" y="3634987"/>
            <a:ext cx="77724" cy="4316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559552" y="3545539"/>
            <a:ext cx="77724" cy="8944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637276" y="3545539"/>
            <a:ext cx="77724" cy="74795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715000" y="3549436"/>
            <a:ext cx="77724" cy="7089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792724" y="3549436"/>
            <a:ext cx="77724" cy="109566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870448" y="3659002"/>
            <a:ext cx="77724" cy="20534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948172" y="3864350"/>
            <a:ext cx="77724" cy="30923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025896" y="3895273"/>
            <a:ext cx="77724" cy="5769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103620" y="3855398"/>
            <a:ext cx="77724" cy="97565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181344" y="3776180"/>
            <a:ext cx="77724" cy="7921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259068" y="3776180"/>
            <a:ext cx="77724" cy="83967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336792" y="3765065"/>
            <a:ext cx="77724" cy="95082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414516" y="3765065"/>
            <a:ext cx="77724" cy="65175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492240" y="3816052"/>
            <a:ext cx="77724" cy="254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569964" y="3816052"/>
            <a:ext cx="77724" cy="254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647688" y="3788280"/>
            <a:ext cx="77724" cy="31575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725412" y="3695686"/>
            <a:ext cx="77724" cy="92594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803136" y="3618708"/>
            <a:ext cx="77724" cy="7697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880860" y="3566730"/>
            <a:ext cx="77724" cy="5197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958584" y="3488753"/>
            <a:ext cx="77724" cy="77977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7036308" y="3425631"/>
            <a:ext cx="77724" cy="63122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114032" y="3425631"/>
            <a:ext cx="77724" cy="32665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191756" y="3458296"/>
            <a:ext cx="77724" cy="40496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269480" y="3498792"/>
            <a:ext cx="77724" cy="254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347204" y="3452925"/>
            <a:ext cx="77724" cy="64926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424928" y="3452925"/>
            <a:ext cx="77724" cy="254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502652" y="3228888"/>
            <a:ext cx="77724" cy="224047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580376" y="3228888"/>
            <a:ext cx="77724" cy="49327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7658100" y="3278215"/>
            <a:ext cx="77724" cy="73552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7735824" y="3263520"/>
            <a:ext cx="77724" cy="88247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813548" y="3118660"/>
            <a:ext cx="77724" cy="14486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7891272" y="3053182"/>
            <a:ext cx="77724" cy="65478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968996" y="2959100"/>
            <a:ext cx="77724" cy="94082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383280" y="43891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09CAA"/>
                </a:solidFill>
                <a:latin typeface="Calibri"/>
              </a:rPr>
              <a:t>Jan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160520" y="43891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09CAA"/>
                </a:solidFill>
                <a:latin typeface="Calibri"/>
              </a:rPr>
              <a:t>Mar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937760" y="43891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09CAA"/>
                </a:solidFill>
                <a:latin typeface="Calibri"/>
              </a:rPr>
              <a:t>May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715000" y="43891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09CAA"/>
                </a:solidFill>
                <a:latin typeface="Calibri"/>
              </a:rPr>
              <a:t>Jul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92240" y="43891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09CAA"/>
                </a:solidFill>
                <a:latin typeface="Calibri"/>
              </a:rPr>
              <a:t>Sep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269480" y="43891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09CAA"/>
                </a:solidFill>
                <a:latin typeface="Calibri"/>
              </a:rPr>
              <a:t>Nov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3246120" y="4937760"/>
            <a:ext cx="4937760" cy="1828800"/>
          </a:xfrm>
          <a:prstGeom prst="roundRect">
            <a:avLst>
              <a:gd name="adj" fmla="val 4000"/>
            </a:avLst>
          </a:prstGeom>
          <a:solidFill>
            <a:srgbClr val="1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383280" y="502920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09CAA"/>
                </a:solidFill>
                <a:latin typeface="Calibri"/>
              </a:rPr>
              <a:t>ACTIVE POSITIONS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383280" y="5303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909CAA"/>
                </a:solidFill>
                <a:latin typeface="Calibri"/>
              </a:rPr>
              <a:t>TICKER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480559" y="5303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909CAA"/>
                </a:solidFill>
                <a:latin typeface="Calibri"/>
              </a:rPr>
              <a:t>ENTRY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577840" y="5303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909CAA"/>
                </a:solidFill>
                <a:latin typeface="Calibri"/>
              </a:rPr>
              <a:t>CURRENT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583680" y="5303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909CAA"/>
                </a:solidFill>
                <a:latin typeface="Calibri"/>
              </a:rPr>
              <a:t>P&amp;L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406640" y="5303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909CAA"/>
                </a:solidFill>
                <a:latin typeface="Calibri"/>
              </a:rPr>
              <a:t>DAYS HELD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383280" y="55778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NVDA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480560" y="55778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09CAA"/>
                </a:solidFill>
                <a:latin typeface="Calibri"/>
              </a:rPr>
              <a:t>$854.10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577840" y="55778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$874.21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583680" y="55778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A77D"/>
                </a:solidFill>
                <a:latin typeface="Calibri"/>
              </a:rPr>
              <a:t>+2.36%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406640" y="557784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09CAA"/>
                </a:solidFill>
                <a:latin typeface="Calibri"/>
              </a:rPr>
              <a:t>3 / 5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383280" y="59436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META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480560" y="59436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09CAA"/>
                </a:solidFill>
                <a:latin typeface="Calibri"/>
              </a:rPr>
              <a:t>$515.20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577840" y="59436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$521.08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583680" y="59436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A77D"/>
                </a:solidFill>
                <a:latin typeface="Calibri"/>
              </a:rPr>
              <a:t>+1.14%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406640" y="59436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09CAA"/>
                </a:solidFill>
                <a:latin typeface="Calibri"/>
              </a:rPr>
              <a:t>3 / 5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383280" y="63550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09CAA"/>
                </a:solidFill>
                <a:latin typeface="Calibri"/>
              </a:rPr>
              <a:t>— TOP_N=2 strategy: 0 open slots —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8321040" y="1691640"/>
            <a:ext cx="3502152" cy="1783080"/>
          </a:xfrm>
          <a:prstGeom prst="roundRect">
            <a:avLst>
              <a:gd name="adj" fmla="val 4000"/>
            </a:avLst>
          </a:prstGeom>
          <a:solidFill>
            <a:srgbClr val="1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458200" y="1783080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09CAA"/>
                </a:solidFill>
                <a:latin typeface="Calibri"/>
              </a:rPr>
              <a:t>TODAY'S SIGNALS  |  ML RANKING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458200" y="207568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NVDA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189720" y="2075688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09CAA"/>
                </a:solidFill>
                <a:latin typeface="Calibri"/>
              </a:rPr>
              <a:t>0.87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875520" y="2148840"/>
            <a:ext cx="914400" cy="101600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9875520" y="2148840"/>
            <a:ext cx="795528" cy="1016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0927080" y="2075688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06A77D"/>
                </a:solidFill>
                <a:latin typeface="Calibri"/>
              </a:rPr>
              <a:t>BUY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458200" y="235000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META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189720" y="2350008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09CAA"/>
                </a:solidFill>
                <a:latin typeface="Calibri"/>
              </a:rPr>
              <a:t>0.71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875520" y="2423160"/>
            <a:ext cx="914400" cy="101600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875520" y="2423160"/>
            <a:ext cx="649224" cy="1016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0927080" y="2350008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06A77D"/>
                </a:solidFill>
                <a:latin typeface="Calibri"/>
              </a:rPr>
              <a:t>BUY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458200" y="262432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AMZN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189720" y="2624328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09CAA"/>
                </a:solidFill>
                <a:latin typeface="Calibri"/>
              </a:rPr>
              <a:t>0.64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875520" y="2697480"/>
            <a:ext cx="914400" cy="101600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875520" y="2697480"/>
            <a:ext cx="585216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0927080" y="2624328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4A261"/>
                </a:solidFill>
                <a:latin typeface="Calibri"/>
              </a:rPr>
              <a:t>WATCH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458200" y="289864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AAPL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189720" y="2898648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09CAA"/>
                </a:solidFill>
                <a:latin typeface="Calibri"/>
              </a:rPr>
              <a:t>0.52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9875520" y="2971800"/>
            <a:ext cx="914400" cy="101600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9875520" y="2971800"/>
            <a:ext cx="475488" cy="101600"/>
          </a:xfrm>
          <a:prstGeom prst="rect">
            <a:avLst/>
          </a:prstGeom>
          <a:solidFill>
            <a:srgbClr val="909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0927080" y="2898648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909CAA"/>
                </a:solidFill>
                <a:latin typeface="Calibri"/>
              </a:rPr>
              <a:t>—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8458200" y="317296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TSLA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9189720" y="3172968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09CAA"/>
                </a:solidFill>
                <a:latin typeface="Calibri"/>
              </a:rPr>
              <a:t>0.31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9875520" y="3246120"/>
            <a:ext cx="914400" cy="101600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9875520" y="3246120"/>
            <a:ext cx="283464" cy="101600"/>
          </a:xfrm>
          <a:prstGeom prst="rect">
            <a:avLst/>
          </a:prstGeom>
          <a:solidFill>
            <a:srgbClr val="909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0927080" y="3172968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909CAA"/>
                </a:solidFill>
                <a:latin typeface="Calibri"/>
              </a:rPr>
              <a:t>—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8321040" y="3611880"/>
            <a:ext cx="3502152" cy="1417320"/>
          </a:xfrm>
          <a:prstGeom prst="roundRect">
            <a:avLst>
              <a:gd name="adj" fmla="val 4000"/>
            </a:avLst>
          </a:prstGeom>
          <a:solidFill>
            <a:srgbClr val="1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8458200" y="3703320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09CAA"/>
                </a:solidFill>
                <a:latin typeface="Calibri"/>
              </a:rPr>
              <a:t>CROWD CONSENSUS  |  NVDA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458200" y="397764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63946"/>
                </a:solidFill>
                <a:latin typeface="Calibri"/>
              </a:rPr>
              <a:t>87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9601200" y="41148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3946"/>
                </a:solidFill>
                <a:latin typeface="Calibri"/>
              </a:rPr>
              <a:t>EXTREME BULL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9601200" y="43891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09CAA"/>
                </a:solidFill>
                <a:latin typeface="Calibri"/>
              </a:rPr>
              <a:t>⚠  contrarian-sell flag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8458200" y="4690872"/>
            <a:ext cx="1291132" cy="762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9749332" y="4690872"/>
            <a:ext cx="645566" cy="76200"/>
          </a:xfrm>
          <a:prstGeom prst="rect">
            <a:avLst/>
          </a:prstGeom>
          <a:solidFill>
            <a:srgbClr val="909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0394899" y="4690872"/>
            <a:ext cx="1291132" cy="76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Down Arrow 193"/>
          <p:cNvSpPr/>
          <p:nvPr/>
        </p:nvSpPr>
        <p:spPr>
          <a:xfrm>
            <a:off x="11211549" y="4553712"/>
            <a:ext cx="109728" cy="137160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ounded Rectangle 194"/>
          <p:cNvSpPr/>
          <p:nvPr/>
        </p:nvSpPr>
        <p:spPr>
          <a:xfrm>
            <a:off x="8321040" y="5166360"/>
            <a:ext cx="3502152" cy="1600200"/>
          </a:xfrm>
          <a:prstGeom prst="roundRect">
            <a:avLst>
              <a:gd name="adj" fmla="val 4000"/>
            </a:avLst>
          </a:prstGeom>
          <a:solidFill>
            <a:srgbClr val="1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8458200" y="5257800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09CAA"/>
                </a:solidFill>
                <a:latin typeface="Calibri"/>
              </a:rPr>
              <a:t>NEWS  |  AI-SUMMARIZED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458200" y="5550408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A77D"/>
                </a:solidFill>
                <a:latin typeface="Calibri"/>
              </a:rPr>
              <a:t>NVDA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8961120" y="555040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Q3 earnings beat; guidance raised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1247120" y="5550408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09CAA"/>
                </a:solidFill>
                <a:latin typeface="Calibri"/>
              </a:rPr>
              <a:t>2m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458200" y="5824728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A77D"/>
                </a:solidFill>
                <a:latin typeface="Calibri"/>
              </a:rPr>
              <a:t>META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8961120" y="582472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AI infra partnership announced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1247120" y="5824728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09CAA"/>
                </a:solidFill>
                <a:latin typeface="Calibri"/>
              </a:rPr>
              <a:t>14m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8458200" y="6099048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A77D"/>
                </a:solidFill>
                <a:latin typeface="Calibri"/>
              </a:rPr>
              <a:t>FED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8961120" y="6099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Powell: rates 'higher for longer'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1247120" y="6099048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09CAA"/>
                </a:solidFill>
                <a:latin typeface="Calibri"/>
              </a:rPr>
              <a:t>1h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8458200" y="6373368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A77D"/>
                </a:solidFill>
                <a:latin typeface="Calibri"/>
              </a:rPr>
              <a:t>TSLA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8961120" y="637336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Cybertruck delivery numbers leaked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1247120" y="6373368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09CAA"/>
                </a:solidFill>
                <a:latin typeface="Calibri"/>
              </a:rPr>
              <a:t>2h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09CAA"/>
                </a:solidFill>
                <a:latin typeface="Calibri"/>
              </a:rPr>
              <a:t>MOCKUP — non-functional design concept   |   built on top of capstone pipeline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09CAA"/>
                </a:solidFill>
                <a:latin typeface="Calibri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